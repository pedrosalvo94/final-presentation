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F272B0-D12C-4853-A842-341F08D0F783}" v="381" dt="2026-05-26T01:14:17.805"/>
    <p1510:client id="{4BFE1BA2-853A-3C45-0D18-87784E9CA55D}" v="21" dt="2026-05-26T01:14:20.558"/>
    <p1510:client id="{702BF13C-F067-77DB-7646-080EAC4C3CB0}" v="83" dt="2026-05-26T01:14:18.8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5231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B0C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MLS Goalkeeper</a:t>
            </a:r>
            <a:endParaRPr lang="en-US" sz="4400"/>
          </a:p>
          <a:p>
            <a:pPr marL="0" indent="0">
              <a:lnSpc>
                <a:spcPct val="115000"/>
              </a:lnSpc>
              <a:buNone/>
            </a:pPr>
            <a:r>
              <a:rPr lang="en-US" sz="440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&amp; Match Analysis</a:t>
            </a:r>
            <a:endParaRPr lang="en-US" sz="4400"/>
          </a:p>
        </p:txBody>
      </p:sp>
      <p:sp>
        <p:nvSpPr>
          <p:cNvPr id="3" name="Text 1"/>
          <p:cNvSpPr/>
          <p:nvPr/>
        </p:nvSpPr>
        <p:spPr>
          <a:xfrm>
            <a:off x="640080" y="342900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>
                <a:solidFill>
                  <a:srgbClr val="DD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Evelyn Tan, Justin Johnson, Pedro Salvo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365760" y="4718304"/>
            <a:ext cx="8412480" cy="10973"/>
          </a:xfrm>
          <a:prstGeom prst="rect">
            <a:avLst/>
          </a:prstGeom>
          <a:solidFill>
            <a:srgbClr val="9B3030"/>
          </a:solidFill>
          <a:ln w="12700">
            <a:solidFill>
              <a:srgbClr val="9B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unpacked_booth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791456"/>
            <a:ext cx="1600200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7B0C00"/>
          </a:solidFill>
          <a:ln w="12700">
            <a:solidFill>
              <a:srgbClr val="7B0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7B0C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Agenda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 covered in this presentation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365760" y="4718304"/>
            <a:ext cx="8412480" cy="10973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unpacked_booth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773168"/>
            <a:ext cx="1600200" cy="2560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115568"/>
            <a:ext cx="40690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 lIns="91440" tIns="45720" rIns="91440" bIns="45720" anchor="t"/>
          <a:lstStyle/>
          <a:p>
            <a:endParaRPr lang="en-US" sz="2000" b="1">
              <a:solidFill>
                <a:srgbClr val="7B0C00"/>
              </a:solidFill>
              <a:latin typeface="Helvetica"/>
              <a:ea typeface="Helvetica"/>
              <a:cs typeface="Helvetica"/>
            </a:endParaRPr>
          </a:p>
          <a:p>
            <a:endParaRPr lang="en-US" sz="1300">
              <a:solidFill>
                <a:srgbClr val="535353"/>
              </a:solidFill>
              <a:latin typeface="Arial"/>
              <a:cs typeface="Arial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709160" y="1115568"/>
            <a:ext cx="40690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1252728"/>
            <a:ext cx="1920240" cy="246888"/>
          </a:xfrm>
          <a:prstGeom prst="rect">
            <a:avLst/>
          </a:prstGeom>
          <a:solidFill>
            <a:srgbClr val="7B0C00"/>
          </a:solidFill>
          <a:ln w="12700">
            <a:solidFill>
              <a:srgbClr val="7B0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125272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ANALYSIS</a:t>
            </a:r>
            <a:endParaRPr lang="en-US" sz="900"/>
          </a:p>
        </p:txBody>
      </p:sp>
      <p:sp>
        <p:nvSpPr>
          <p:cNvPr id="11" name="Text 8"/>
          <p:cNvSpPr/>
          <p:nvPr/>
        </p:nvSpPr>
        <p:spPr>
          <a:xfrm>
            <a:off x="548640" y="1664208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7B0C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2000"/>
          </a:p>
        </p:txBody>
      </p:sp>
      <p:sp>
        <p:nvSpPr>
          <p:cNvPr id="12" name="Text 9"/>
          <p:cNvSpPr/>
          <p:nvPr/>
        </p:nvSpPr>
        <p:spPr>
          <a:xfrm>
            <a:off x="1078992" y="17099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300"/>
          </a:p>
        </p:txBody>
      </p:sp>
      <p:sp>
        <p:nvSpPr>
          <p:cNvPr id="13" name="Shape 10"/>
          <p:cNvSpPr/>
          <p:nvPr/>
        </p:nvSpPr>
        <p:spPr>
          <a:xfrm>
            <a:off x="548640" y="2048256"/>
            <a:ext cx="3657600" cy="8230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8640" y="228600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7B0C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2000"/>
          </a:p>
        </p:txBody>
      </p:sp>
      <p:sp>
        <p:nvSpPr>
          <p:cNvPr id="15" name="Text 12"/>
          <p:cNvSpPr/>
          <p:nvPr/>
        </p:nvSpPr>
        <p:spPr>
          <a:xfrm>
            <a:off x="1078992" y="23317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</a:t>
            </a:r>
            <a:endParaRPr lang="en-US" sz="1300"/>
          </a:p>
        </p:txBody>
      </p:sp>
      <p:sp>
        <p:nvSpPr>
          <p:cNvPr id="16" name="Shape 13"/>
          <p:cNvSpPr/>
          <p:nvPr/>
        </p:nvSpPr>
        <p:spPr>
          <a:xfrm>
            <a:off x="548640" y="2670048"/>
            <a:ext cx="3657600" cy="8230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48640" y="2875595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7B0C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2000"/>
          </a:p>
        </p:txBody>
      </p:sp>
      <p:sp>
        <p:nvSpPr>
          <p:cNvPr id="18" name="Text 15"/>
          <p:cNvSpPr/>
          <p:nvPr/>
        </p:nvSpPr>
        <p:spPr>
          <a:xfrm>
            <a:off x="1078992" y="2921315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Statistics</a:t>
            </a:r>
            <a:endParaRPr lang="en-US" sz="1300"/>
          </a:p>
        </p:txBody>
      </p:sp>
      <p:sp>
        <p:nvSpPr>
          <p:cNvPr id="19" name="Shape 16"/>
          <p:cNvSpPr/>
          <p:nvPr/>
        </p:nvSpPr>
        <p:spPr>
          <a:xfrm>
            <a:off x="548640" y="3259643"/>
            <a:ext cx="3657600" cy="8230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8640" y="3400704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7B0C00"/>
                </a:solidFill>
                <a:latin typeface="Helvetica"/>
                <a:cs typeface="Helvetica"/>
              </a:rPr>
              <a:t>06</a:t>
            </a:r>
          </a:p>
        </p:txBody>
      </p:sp>
      <p:sp>
        <p:nvSpPr>
          <p:cNvPr id="21" name="Text 18"/>
          <p:cNvSpPr/>
          <p:nvPr/>
        </p:nvSpPr>
        <p:spPr>
          <a:xfrm>
            <a:off x="1078992" y="3464261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35353"/>
                </a:solidFill>
                <a:latin typeface="Arial"/>
                <a:cs typeface="Arial"/>
              </a:rPr>
              <a:t>Insights 1 </a:t>
            </a:r>
            <a:endParaRPr lang="en-US" sz="1300">
              <a:latin typeface="Arial"/>
              <a:cs typeface="Arial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892040" y="1252728"/>
            <a:ext cx="2194560" cy="246888"/>
          </a:xfrm>
          <a:prstGeom prst="rect">
            <a:avLst/>
          </a:prstGeom>
          <a:solidFill>
            <a:srgbClr val="7B0C00"/>
          </a:solidFill>
          <a:ln w="12700">
            <a:solidFill>
              <a:srgbClr val="7B0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892040" y="125272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 &amp; STATISTICS</a:t>
            </a:r>
            <a:endParaRPr lang="en-US" sz="900"/>
          </a:p>
        </p:txBody>
      </p:sp>
      <p:sp>
        <p:nvSpPr>
          <p:cNvPr id="24" name="Text 21"/>
          <p:cNvSpPr/>
          <p:nvPr/>
        </p:nvSpPr>
        <p:spPr>
          <a:xfrm>
            <a:off x="536897" y="3977609"/>
            <a:ext cx="46474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7B0C00"/>
                </a:solidFill>
                <a:latin typeface="Helvetica"/>
                <a:cs typeface="Helvetica"/>
              </a:rPr>
              <a:t>07</a:t>
            </a: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574475" y="3855378"/>
            <a:ext cx="3657600" cy="8230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892040" y="167144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7B0C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</a:t>
            </a:r>
            <a:endParaRPr lang="en-US" sz="2000"/>
          </a:p>
        </p:txBody>
      </p:sp>
      <p:sp>
        <p:nvSpPr>
          <p:cNvPr id="28" name="Text 25"/>
          <p:cNvSpPr/>
          <p:nvPr/>
        </p:nvSpPr>
        <p:spPr>
          <a:xfrm>
            <a:off x="5422392" y="17015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Modeling: Logistic Regression</a:t>
            </a:r>
            <a:endParaRPr lang="en-US" sz="1300"/>
          </a:p>
        </p:txBody>
      </p:sp>
      <p:sp>
        <p:nvSpPr>
          <p:cNvPr id="29" name="Shape 26"/>
          <p:cNvSpPr/>
          <p:nvPr/>
        </p:nvSpPr>
        <p:spPr>
          <a:xfrm>
            <a:off x="4872468" y="2047661"/>
            <a:ext cx="3657600" cy="8230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892040" y="2258004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7B0C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</a:t>
            </a:r>
            <a:endParaRPr lang="en-US" sz="2000"/>
          </a:p>
        </p:txBody>
      </p:sp>
      <p:sp>
        <p:nvSpPr>
          <p:cNvPr id="31" name="Text 28"/>
          <p:cNvSpPr/>
          <p:nvPr/>
        </p:nvSpPr>
        <p:spPr>
          <a:xfrm>
            <a:off x="5422392" y="22567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 &amp; Predictions</a:t>
            </a:r>
            <a:endParaRPr lang="en-US" sz="1300"/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A97C3476-EFB5-AEE7-5DAB-EEA901DCE44E}"/>
              </a:ext>
            </a:extLst>
          </p:cNvPr>
          <p:cNvSpPr/>
          <p:nvPr/>
        </p:nvSpPr>
        <p:spPr>
          <a:xfrm>
            <a:off x="1078992" y="4013715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35353"/>
                </a:solidFill>
                <a:latin typeface="Arial"/>
                <a:cs typeface="Arial"/>
              </a:rPr>
              <a:t>Insights 2 </a:t>
            </a:r>
            <a:endParaRPr lang="en-US"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7B0C00"/>
          </a:solidFill>
          <a:ln w="12700">
            <a:solidFill>
              <a:srgbClr val="7B0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7B0C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Overview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Datasets, tools, and analysis components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365760" y="4718304"/>
            <a:ext cx="8412480" cy="10973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unpacked_booth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773168"/>
            <a:ext cx="1600200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0" y="47731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/>
          </a:p>
        </p:txBody>
      </p:sp>
      <p:sp>
        <p:nvSpPr>
          <p:cNvPr id="8" name="Shape 5"/>
          <p:cNvSpPr/>
          <p:nvPr/>
        </p:nvSpPr>
        <p:spPr>
          <a:xfrm>
            <a:off x="365760" y="1115568"/>
            <a:ext cx="39776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1261872"/>
            <a:ext cx="1463040" cy="246888"/>
          </a:xfrm>
          <a:prstGeom prst="rect">
            <a:avLst/>
          </a:prstGeom>
          <a:solidFill>
            <a:srgbClr val="7B0C00"/>
          </a:solidFill>
          <a:ln w="12700">
            <a:solidFill>
              <a:srgbClr val="7B0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126187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</a:t>
            </a:r>
            <a:endParaRPr lang="en-US" sz="900"/>
          </a:p>
        </p:txBody>
      </p:sp>
      <p:sp>
        <p:nvSpPr>
          <p:cNvPr id="11" name="Text 8"/>
          <p:cNvSpPr/>
          <p:nvPr/>
        </p:nvSpPr>
        <p:spPr>
          <a:xfrm>
            <a:off x="548640" y="1627632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all_goalkeepers.csv</a:t>
            </a:r>
            <a:endParaRPr lang="en-US" sz="1200"/>
          </a:p>
          <a:p>
            <a:pPr marL="0" lvl="1" indent="0">
              <a:spcAft>
                <a:spcPts val="1000"/>
              </a:spcAft>
              <a:buNone/>
            </a:pPr>
            <a:r>
              <a:rPr lang="en-US" sz="110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Season-level GK stats (</a:t>
            </a:r>
            <a:r>
              <a:rPr lang="en-US" altLang="zh-CN" sz="110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r>
              <a:rPr lang="en-US" sz="110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–2020)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 b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matches.csv</a:t>
            </a:r>
            <a:endParaRPr lang="en-US" sz="1200"/>
          </a:p>
          <a:p>
            <a:pPr marL="0" lvl="1" indent="0">
              <a:buNone/>
            </a:pPr>
            <a:r>
              <a:rPr lang="en-US" sz="110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Match-level results (</a:t>
            </a:r>
            <a:r>
              <a:rPr lang="en-US" altLang="zh-CN" sz="110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r>
              <a:rPr lang="en-US" sz="110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–2020)</a:t>
            </a:r>
            <a:endParaRPr lang="en-US" sz="1200"/>
          </a:p>
        </p:txBody>
      </p:sp>
      <p:sp>
        <p:nvSpPr>
          <p:cNvPr id="12" name="Shape 9"/>
          <p:cNvSpPr/>
          <p:nvPr/>
        </p:nvSpPr>
        <p:spPr>
          <a:xfrm>
            <a:off x="4572000" y="1115568"/>
            <a:ext cx="4206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54880" y="1261872"/>
            <a:ext cx="2560320" cy="246888"/>
          </a:xfrm>
          <a:prstGeom prst="rect">
            <a:avLst/>
          </a:prstGeom>
          <a:solidFill>
            <a:srgbClr val="7B0C00"/>
          </a:solidFill>
          <a:ln w="12700">
            <a:solidFill>
              <a:srgbClr val="7B0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54880" y="126187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&amp; KEY QUESTIONS</a:t>
            </a:r>
            <a:endParaRPr lang="en-US" sz="900"/>
          </a:p>
        </p:txBody>
      </p:sp>
      <p:sp>
        <p:nvSpPr>
          <p:cNvPr id="15" name="Text 12"/>
          <p:cNvSpPr/>
          <p:nvPr/>
        </p:nvSpPr>
        <p:spPr>
          <a:xfrm>
            <a:off x="4754880" y="1627632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Soccer Coaches, GMs, and analytical staff</a:t>
            </a: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7B0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Prediction:</a:t>
            </a:r>
            <a:endParaRPr lang="en-US" sz="1200"/>
          </a:p>
          <a:p>
            <a:pPr marL="0" lvl="1" indent="0">
              <a:buNone/>
            </a:pPr>
            <a:r>
              <a:rPr lang="en-US" sz="11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winning record from Save %, GAA, Shutouts, Games Played, and Win %</a:t>
            </a:r>
            <a:endParaRPr lang="en-US" sz="1200"/>
          </a:p>
        </p:txBody>
      </p:sp>
      <p:sp>
        <p:nvSpPr>
          <p:cNvPr id="16" name="Shape 13"/>
          <p:cNvSpPr/>
          <p:nvPr/>
        </p:nvSpPr>
        <p:spPr>
          <a:xfrm>
            <a:off x="365760" y="3657600"/>
            <a:ext cx="2011680" cy="914400"/>
          </a:xfrm>
          <a:prstGeom prst="rect">
            <a:avLst/>
          </a:prstGeom>
          <a:solidFill>
            <a:srgbClr val="F8F8F8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65760" y="3657600"/>
            <a:ext cx="54864" cy="914400"/>
          </a:xfrm>
          <a:prstGeom prst="rect">
            <a:avLst/>
          </a:prstGeom>
          <a:solidFill>
            <a:srgbClr val="7B0C00"/>
          </a:solidFill>
          <a:ln w="12700">
            <a:solidFill>
              <a:srgbClr val="7B0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75488" y="37307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2000" b="1">
                <a:solidFill>
                  <a:srgbClr val="7B0C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2012</a:t>
            </a:r>
            <a:r>
              <a:rPr lang="en-US" sz="2000" b="1">
                <a:solidFill>
                  <a:srgbClr val="7B0C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–2020</a:t>
            </a:r>
            <a:endParaRPr lang="en-US" sz="2000"/>
          </a:p>
        </p:txBody>
      </p:sp>
      <p:sp>
        <p:nvSpPr>
          <p:cNvPr id="19" name="Text 16"/>
          <p:cNvSpPr/>
          <p:nvPr/>
        </p:nvSpPr>
        <p:spPr>
          <a:xfrm>
            <a:off x="475488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Period</a:t>
            </a:r>
            <a:endParaRPr lang="en-US" sz="1000"/>
          </a:p>
        </p:txBody>
      </p:sp>
      <p:sp>
        <p:nvSpPr>
          <p:cNvPr id="20" name="Shape 17"/>
          <p:cNvSpPr/>
          <p:nvPr/>
        </p:nvSpPr>
        <p:spPr>
          <a:xfrm>
            <a:off x="2514600" y="3657600"/>
            <a:ext cx="2011680" cy="914400"/>
          </a:xfrm>
          <a:prstGeom prst="rect">
            <a:avLst/>
          </a:prstGeom>
          <a:solidFill>
            <a:srgbClr val="F8F8F8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2514600" y="3657600"/>
            <a:ext cx="54864" cy="914400"/>
          </a:xfrm>
          <a:prstGeom prst="rect">
            <a:avLst/>
          </a:prstGeom>
          <a:solidFill>
            <a:srgbClr val="7B0C00"/>
          </a:solidFill>
          <a:ln w="12700">
            <a:solidFill>
              <a:srgbClr val="7B0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624328" y="37307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7B0C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</a:t>
            </a:r>
            <a:endParaRPr lang="en-US" sz="3000"/>
          </a:p>
        </p:txBody>
      </p:sp>
      <p:sp>
        <p:nvSpPr>
          <p:cNvPr id="23" name="Text 20"/>
          <p:cNvSpPr/>
          <p:nvPr/>
        </p:nvSpPr>
        <p:spPr>
          <a:xfrm>
            <a:off x="2624328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Seasons</a:t>
            </a:r>
            <a:endParaRPr lang="en-US" sz="1000"/>
          </a:p>
        </p:txBody>
      </p:sp>
      <p:sp>
        <p:nvSpPr>
          <p:cNvPr id="24" name="Shape 21"/>
          <p:cNvSpPr/>
          <p:nvPr/>
        </p:nvSpPr>
        <p:spPr>
          <a:xfrm>
            <a:off x="4663440" y="3657600"/>
            <a:ext cx="2011680" cy="914400"/>
          </a:xfrm>
          <a:prstGeom prst="rect">
            <a:avLst/>
          </a:prstGeom>
          <a:solidFill>
            <a:srgbClr val="F8F8F8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663440" y="3657600"/>
            <a:ext cx="54864" cy="914400"/>
          </a:xfrm>
          <a:prstGeom prst="rect">
            <a:avLst/>
          </a:prstGeom>
          <a:solidFill>
            <a:srgbClr val="7B0C00"/>
          </a:solidFill>
          <a:ln w="12700">
            <a:solidFill>
              <a:srgbClr val="7B0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773168" y="37307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7B0C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3000"/>
          </a:p>
        </p:txBody>
      </p:sp>
      <p:sp>
        <p:nvSpPr>
          <p:cNvPr id="27" name="Text 24"/>
          <p:cNvSpPr/>
          <p:nvPr/>
        </p:nvSpPr>
        <p:spPr>
          <a:xfrm>
            <a:off x="4773168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000"/>
          </a:p>
        </p:txBody>
      </p:sp>
      <p:sp>
        <p:nvSpPr>
          <p:cNvPr id="28" name="Shape 25"/>
          <p:cNvSpPr/>
          <p:nvPr/>
        </p:nvSpPr>
        <p:spPr>
          <a:xfrm>
            <a:off x="6812280" y="3657600"/>
            <a:ext cx="1920240" cy="914400"/>
          </a:xfrm>
          <a:prstGeom prst="rect">
            <a:avLst/>
          </a:prstGeom>
          <a:solidFill>
            <a:srgbClr val="F8F8F8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812280" y="3657600"/>
            <a:ext cx="54864" cy="914400"/>
          </a:xfrm>
          <a:prstGeom prst="rect">
            <a:avLst/>
          </a:prstGeom>
          <a:solidFill>
            <a:srgbClr val="7B0C00"/>
          </a:solidFill>
          <a:ln w="12700">
            <a:solidFill>
              <a:srgbClr val="7B0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922008" y="37307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7B0C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3000"/>
          </a:p>
        </p:txBody>
      </p:sp>
      <p:sp>
        <p:nvSpPr>
          <p:cNvPr id="31" name="Text 28"/>
          <p:cNvSpPr/>
          <p:nvPr/>
        </p:nvSpPr>
        <p:spPr>
          <a:xfrm>
            <a:off x="6922008" y="4224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7B0C00"/>
          </a:solidFill>
          <a:ln w="12700">
            <a:solidFill>
              <a:srgbClr val="7B0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7B0C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Exploratory Data Analysis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% tier classification and analysis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365760" y="4718304"/>
            <a:ext cx="8412480" cy="10973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unpacked_booth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773168"/>
            <a:ext cx="1600200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0" y="47731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/>
          </a:p>
        </p:txBody>
      </p:sp>
      <p:sp>
        <p:nvSpPr>
          <p:cNvPr id="10" name="Shape 5"/>
          <p:cNvSpPr/>
          <p:nvPr/>
        </p:nvSpPr>
        <p:spPr>
          <a:xfrm>
            <a:off x="365760" y="3090672"/>
            <a:ext cx="8412480" cy="1481328"/>
          </a:xfrm>
          <a:prstGeom prst="rect">
            <a:avLst/>
          </a:prstGeom>
          <a:solidFill>
            <a:srgbClr val="FDF4F4"/>
          </a:solidFill>
          <a:ln w="12700">
            <a:solidFill>
              <a:srgbClr val="E8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6"/>
          <p:cNvSpPr/>
          <p:nvPr/>
        </p:nvSpPr>
        <p:spPr>
          <a:xfrm>
            <a:off x="365760" y="3090672"/>
            <a:ext cx="54864" cy="1481328"/>
          </a:xfrm>
          <a:prstGeom prst="rect">
            <a:avLst/>
          </a:prstGeom>
          <a:solidFill>
            <a:srgbClr val="7B0C00"/>
          </a:solidFill>
          <a:ln w="12700">
            <a:solidFill>
              <a:srgbClr val="7B0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502920" y="3182112"/>
            <a:ext cx="8183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>
                <a:solidFill>
                  <a:srgbClr val="7B0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850"/>
          </a:p>
        </p:txBody>
      </p:sp>
      <p:sp>
        <p:nvSpPr>
          <p:cNvPr id="13" name="Text 8"/>
          <p:cNvSpPr/>
          <p:nvPr/>
        </p:nvSpPr>
        <p:spPr>
          <a:xfrm>
            <a:off x="502920" y="3401568"/>
            <a:ext cx="8183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14" name="Text 9"/>
          <p:cNvSpPr/>
          <p:nvPr/>
        </p:nvSpPr>
        <p:spPr>
          <a:xfrm>
            <a:off x="594360" y="3364992"/>
            <a:ext cx="8001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 tiers (≥75%) strongly correlate with higher win %</a:t>
            </a:r>
            <a:endParaRPr lang="en-US" sz="1150"/>
          </a:p>
          <a:p>
            <a:pPr marL="0" lvl="1" indent="0">
              <a:buNone/>
            </a:pPr>
            <a:r>
              <a:rPr lang="en-US" sz="105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Good: 70–74%  |  Average: 65–69%  |  Below Average: &lt;65%</a:t>
            </a:r>
            <a:endParaRPr lang="en-US" sz="1150"/>
          </a:p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separation between performance groups in win outcomes</a:t>
            </a:r>
            <a:endParaRPr lang="en-US" sz="1150"/>
          </a:p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Cross-tabulation confirms Elite tier GKs have significantly higher win %. Save % is a meaningful predictor of team success.</a:t>
            </a:r>
            <a:endParaRPr lang="en-US" sz="115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AC29A05-1401-1B18-CA71-08325DE66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9312" y="445770"/>
            <a:ext cx="4027488" cy="25717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2950167E-0CE0-78C8-4BAA-11377EAE3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048955"/>
            <a:ext cx="3965265" cy="195027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7B0C00"/>
          </a:solidFill>
          <a:ln w="12700">
            <a:solidFill>
              <a:srgbClr val="7B0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7B0C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Descriptive Statistics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 and data quality assessment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365760" y="4718304"/>
            <a:ext cx="8412480" cy="10973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unpacked_booth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773168"/>
            <a:ext cx="1600200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0" y="47731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94862"/>
              </p:ext>
            </p:extLst>
          </p:nvPr>
        </p:nvGraphicFramePr>
        <p:xfrm>
          <a:off x="365760" y="1078992"/>
          <a:ext cx="8412480" cy="212140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0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DETAILS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0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5353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GK Stats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5353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 (Games Played), minutes, shots faced, saves, GA (Goals Against), GAA (Goals Against Average), save %, win %, shutouts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5353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Save % Median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7B0C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≈</a:t>
                      </a:r>
                      <a:r>
                        <a:rPr lang="en-US" altLang="zh-CN" sz="1400" b="1">
                          <a:solidFill>
                            <a:srgbClr val="7B0C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57.6</a:t>
                      </a:r>
                      <a:r>
                        <a:rPr lang="en-US" sz="1400" b="1">
                          <a:solidFill>
                            <a:srgbClr val="7B0C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%</a:t>
                      </a:r>
                      <a:endParaRPr lang="en-US" sz="140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5353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GAA Median</a:t>
                      </a:r>
                      <a:endParaRPr lang="en-US" sz="11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7B0C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≈1.</a:t>
                      </a:r>
                      <a:r>
                        <a:rPr lang="en-US" altLang="zh-CN" sz="1400" b="1">
                          <a:solidFill>
                            <a:srgbClr val="7B0C0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09</a:t>
                      </a:r>
                      <a:endParaRPr lang="en-US" sz="140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365760" y="3200400"/>
            <a:ext cx="3977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48640" y="3337560"/>
            <a:ext cx="1645920" cy="246888"/>
          </a:xfrm>
          <a:prstGeom prst="rect">
            <a:avLst/>
          </a:prstGeom>
          <a:solidFill>
            <a:srgbClr val="7B0C00"/>
          </a:solidFill>
          <a:ln w="12700">
            <a:solidFill>
              <a:srgbClr val="7B0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48640" y="333756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DATA</a:t>
            </a:r>
            <a:endParaRPr lang="en-US" sz="900"/>
          </a:p>
        </p:txBody>
      </p:sp>
      <p:sp>
        <p:nvSpPr>
          <p:cNvPr id="12" name="Text 8"/>
          <p:cNvSpPr/>
          <p:nvPr/>
        </p:nvSpPr>
        <p:spPr>
          <a:xfrm>
            <a:off x="594360" y="37033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Matches: </a:t>
            </a:r>
            <a:r>
              <a:rPr lang="en-US" sz="1200" err="1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attendence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Goalkeepers: Club</a:t>
            </a:r>
            <a:endParaRPr lang="en-US" sz="120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>
                <a:solidFill>
                  <a:srgbClr val="7B0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data quality is high</a:t>
            </a:r>
            <a:endParaRPr lang="en-US" sz="1200"/>
          </a:p>
        </p:txBody>
      </p:sp>
      <p:sp>
        <p:nvSpPr>
          <p:cNvPr id="13" name="Shape 9"/>
          <p:cNvSpPr/>
          <p:nvPr/>
        </p:nvSpPr>
        <p:spPr>
          <a:xfrm>
            <a:off x="4572000" y="3200400"/>
            <a:ext cx="2057400" cy="1417320"/>
          </a:xfrm>
          <a:prstGeom prst="rect">
            <a:avLst/>
          </a:prstGeom>
          <a:solidFill>
            <a:srgbClr val="F8F8F8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572000" y="3200400"/>
            <a:ext cx="54864" cy="1417320"/>
          </a:xfrm>
          <a:prstGeom prst="rect">
            <a:avLst/>
          </a:prstGeom>
          <a:solidFill>
            <a:srgbClr val="7B0C00"/>
          </a:solidFill>
          <a:ln w="12700">
            <a:solidFill>
              <a:srgbClr val="7B0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681728" y="3273552"/>
            <a:ext cx="18745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3600" b="1">
                <a:solidFill>
                  <a:srgbClr val="7B0C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57.6</a:t>
            </a:r>
            <a:r>
              <a:rPr lang="en-US" sz="3600" b="1">
                <a:solidFill>
                  <a:srgbClr val="7B0C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%</a:t>
            </a:r>
            <a:endParaRPr lang="en-US" sz="3600"/>
          </a:p>
        </p:txBody>
      </p:sp>
      <p:sp>
        <p:nvSpPr>
          <p:cNvPr id="16" name="Text 12"/>
          <p:cNvSpPr/>
          <p:nvPr/>
        </p:nvSpPr>
        <p:spPr>
          <a:xfrm>
            <a:off x="4681728" y="4079138"/>
            <a:ext cx="1874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% Median</a:t>
            </a:r>
            <a:endParaRPr lang="en-US" sz="1000"/>
          </a:p>
        </p:txBody>
      </p:sp>
      <p:sp>
        <p:nvSpPr>
          <p:cNvPr id="17" name="Shape 13"/>
          <p:cNvSpPr/>
          <p:nvPr/>
        </p:nvSpPr>
        <p:spPr>
          <a:xfrm>
            <a:off x="6766560" y="3200400"/>
            <a:ext cx="2011680" cy="1417320"/>
          </a:xfrm>
          <a:prstGeom prst="rect">
            <a:avLst/>
          </a:prstGeom>
          <a:solidFill>
            <a:srgbClr val="F8F8F8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766560" y="3200400"/>
            <a:ext cx="54864" cy="1417320"/>
          </a:xfrm>
          <a:prstGeom prst="rect">
            <a:avLst/>
          </a:prstGeom>
          <a:solidFill>
            <a:srgbClr val="7B0C00"/>
          </a:solidFill>
          <a:ln w="12700">
            <a:solidFill>
              <a:srgbClr val="7B0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876288" y="3273552"/>
            <a:ext cx="18288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7B0C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</a:t>
            </a:r>
            <a:r>
              <a:rPr lang="en-US" altLang="zh-CN" sz="3600" b="1">
                <a:solidFill>
                  <a:srgbClr val="7B0C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</a:t>
            </a:r>
            <a:endParaRPr lang="en-US" sz="3600"/>
          </a:p>
        </p:txBody>
      </p:sp>
      <p:sp>
        <p:nvSpPr>
          <p:cNvPr id="20" name="Text 16"/>
          <p:cNvSpPr/>
          <p:nvPr/>
        </p:nvSpPr>
        <p:spPr>
          <a:xfrm>
            <a:off x="6876288" y="4079138"/>
            <a:ext cx="182880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GAA Median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7B0C00"/>
          </a:solidFill>
          <a:ln w="12700">
            <a:solidFill>
              <a:srgbClr val="7B0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7B0C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Insights (1)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performance and home advantage analysis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365760" y="4718304"/>
            <a:ext cx="8412480" cy="10973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unpacked_booth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773168"/>
            <a:ext cx="1600200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0" y="47731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/>
          </a:p>
        </p:txBody>
      </p:sp>
      <p:sp>
        <p:nvSpPr>
          <p:cNvPr id="8" name="Shape 5"/>
          <p:cNvSpPr/>
          <p:nvPr/>
        </p:nvSpPr>
        <p:spPr>
          <a:xfrm>
            <a:off x="365760" y="1115568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1261872"/>
            <a:ext cx="2011680" cy="246888"/>
          </a:xfrm>
          <a:prstGeom prst="rect">
            <a:avLst/>
          </a:prstGeom>
          <a:solidFill>
            <a:srgbClr val="7B0C00"/>
          </a:solidFill>
          <a:ln w="12700">
            <a:solidFill>
              <a:srgbClr val="7B0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126187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DEFENSIVE STRENGTH</a:t>
            </a:r>
            <a:endParaRPr lang="en-US" sz="900"/>
          </a:p>
        </p:txBody>
      </p:sp>
      <p:sp>
        <p:nvSpPr>
          <p:cNvPr id="11" name="Text 8"/>
          <p:cNvSpPr/>
          <p:nvPr/>
        </p:nvSpPr>
        <p:spPr>
          <a:xfrm>
            <a:off x="548640" y="16002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Clubs with highest career save % historically:</a:t>
            </a:r>
            <a:endParaRPr lang="en-US" sz="1200"/>
          </a:p>
          <a:p>
            <a:pPr marL="0" indent="0">
              <a:buNone/>
            </a:pPr>
            <a:r>
              <a:rPr lang="en-US" sz="1200" b="1">
                <a:solidFill>
                  <a:srgbClr val="7B0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Seattle Sounders, D.C. United, Minnesota United</a:t>
            </a:r>
            <a:endParaRPr lang="en-US" sz="1200"/>
          </a:p>
          <a:p>
            <a:pPr marL="0" indent="0">
              <a:buNone/>
            </a:pPr>
            <a:r>
              <a:rPr lang="en-US" sz="1050" i="1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Rankings vary by era</a:t>
            </a:r>
            <a:endParaRPr lang="en-US" sz="1200"/>
          </a:p>
        </p:txBody>
      </p:sp>
      <p:sp>
        <p:nvSpPr>
          <p:cNvPr id="12" name="Shape 9"/>
          <p:cNvSpPr/>
          <p:nvPr/>
        </p:nvSpPr>
        <p:spPr>
          <a:xfrm>
            <a:off x="4572000" y="1115568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54880" y="1261872"/>
            <a:ext cx="1737360" cy="246888"/>
          </a:xfrm>
          <a:prstGeom prst="rect">
            <a:avLst/>
          </a:prstGeom>
          <a:solidFill>
            <a:srgbClr val="7B0C00"/>
          </a:solidFill>
          <a:ln w="12700">
            <a:solidFill>
              <a:srgbClr val="7B0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54880" y="126187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ADVANTAGE</a:t>
            </a:r>
            <a:endParaRPr lang="en-US" sz="900"/>
          </a:p>
        </p:txBody>
      </p:sp>
      <p:sp>
        <p:nvSpPr>
          <p:cNvPr id="15" name="Text 12"/>
          <p:cNvSpPr/>
          <p:nvPr/>
        </p:nvSpPr>
        <p:spPr>
          <a:xfrm>
            <a:off x="4754880" y="16002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win % ~52 – 63.3%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Away win % ~21.4 – 35.3 %</a:t>
            </a:r>
            <a:endParaRPr lang="en-US" sz="12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Strong, persistent home-field effect</a:t>
            </a:r>
            <a:endParaRPr lang="en-US" sz="1200"/>
          </a:p>
        </p:txBody>
      </p:sp>
      <p:sp>
        <p:nvSpPr>
          <p:cNvPr id="22" name="Text 19"/>
          <p:cNvSpPr/>
          <p:nvPr/>
        </p:nvSpPr>
        <p:spPr>
          <a:xfrm>
            <a:off x="4754880" y="298094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LEAGUE TOTALS BY YEAR</a:t>
            </a:r>
            <a:endParaRPr lang="en-US" sz="900"/>
          </a:p>
        </p:txBody>
      </p:sp>
      <p:sp>
        <p:nvSpPr>
          <p:cNvPr id="24" name="Shape 21"/>
          <p:cNvSpPr/>
          <p:nvPr/>
        </p:nvSpPr>
        <p:spPr>
          <a:xfrm>
            <a:off x="1394460" y="2940198"/>
            <a:ext cx="1920240" cy="868680"/>
          </a:xfrm>
          <a:prstGeom prst="rect">
            <a:avLst/>
          </a:prstGeom>
          <a:solidFill>
            <a:srgbClr val="F8F8F8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332738" y="2939113"/>
            <a:ext cx="54864" cy="868680"/>
          </a:xfrm>
          <a:prstGeom prst="rect">
            <a:avLst/>
          </a:prstGeom>
          <a:solidFill>
            <a:srgbClr val="7B0C00"/>
          </a:solidFill>
          <a:ln w="12700">
            <a:solidFill>
              <a:srgbClr val="7B0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463040" y="3141240"/>
            <a:ext cx="173736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7B0C00"/>
                </a:solidFill>
                <a:latin typeface="Helvetica"/>
                <a:ea typeface="Helvetica" pitchFamily="34" charset="-122"/>
                <a:cs typeface="Helvetica"/>
              </a:rPr>
              <a:t>~56%</a:t>
            </a:r>
            <a:endParaRPr lang="en-US" sz="2600">
              <a:latin typeface="Helvetica"/>
              <a:cs typeface="Helvetica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485900" y="3820056"/>
            <a:ext cx="17373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>
                <a:solidFill>
                  <a:srgbClr val="535353"/>
                </a:solidFill>
                <a:latin typeface="Arial"/>
                <a:ea typeface="Arial" pitchFamily="34" charset="-122"/>
                <a:cs typeface="Arial"/>
              </a:rPr>
              <a:t>Avg Home Win Rate</a:t>
            </a:r>
            <a:endParaRPr lang="en-US" sz="1000">
              <a:latin typeface="Arial"/>
              <a:cs typeface="Arial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5692140" y="2940952"/>
            <a:ext cx="1920240" cy="868680"/>
          </a:xfrm>
          <a:prstGeom prst="rect">
            <a:avLst/>
          </a:prstGeom>
          <a:solidFill>
            <a:srgbClr val="F8F8F8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630844" y="2935739"/>
            <a:ext cx="54864" cy="868680"/>
          </a:xfrm>
          <a:prstGeom prst="rect">
            <a:avLst/>
          </a:prstGeom>
          <a:solidFill>
            <a:srgbClr val="7B0C00"/>
          </a:solidFill>
          <a:ln w="12700">
            <a:solidFill>
              <a:srgbClr val="7B0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783580" y="3163636"/>
            <a:ext cx="173736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7B0C00"/>
                </a:solidFill>
                <a:latin typeface="Helvetica"/>
                <a:cs typeface="Helvetica"/>
              </a:rPr>
              <a:t>~26%</a:t>
            </a:r>
            <a:endParaRPr lang="en-US" sz="2600"/>
          </a:p>
        </p:txBody>
      </p:sp>
      <p:sp>
        <p:nvSpPr>
          <p:cNvPr id="31" name="Text 28"/>
          <p:cNvSpPr/>
          <p:nvPr/>
        </p:nvSpPr>
        <p:spPr>
          <a:xfrm>
            <a:off x="5761973" y="3820250"/>
            <a:ext cx="173736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>
                <a:solidFill>
                  <a:srgbClr val="535353"/>
                </a:solidFill>
                <a:latin typeface="Arial"/>
                <a:ea typeface="Arial" pitchFamily="34" charset="-122"/>
                <a:cs typeface="Arial"/>
              </a:rPr>
              <a:t>Avg Away Win Rate</a:t>
            </a:r>
            <a:endParaRPr lang="en-US"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7B0C00"/>
          </a:solidFill>
          <a:ln w="12700">
            <a:solidFill>
              <a:srgbClr val="7B0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7B0C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Insights (2)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+ efficiency view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365760" y="4718304"/>
            <a:ext cx="8412480" cy="10973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unpacked_booth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773168"/>
            <a:ext cx="1600200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0" y="47731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/>
          </a:p>
        </p:txBody>
      </p:sp>
      <p:sp>
        <p:nvSpPr>
          <p:cNvPr id="14" name="Text 11"/>
          <p:cNvSpPr/>
          <p:nvPr/>
        </p:nvSpPr>
        <p:spPr>
          <a:xfrm>
            <a:off x="4754880" y="126187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LEAGUE TOTALS BY YEAR</a:t>
            </a:r>
            <a:endParaRPr lang="en-US" sz="90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BC32017-8C1C-A5CF-28B8-670DF592C8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8828" y="777240"/>
            <a:ext cx="5766528" cy="401279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Shape 21">
            <a:extLst>
              <a:ext uri="{FF2B5EF4-FFF2-40B4-BE49-F238E27FC236}">
                <a16:creationId xmlns:a16="http://schemas.microsoft.com/office/drawing/2014/main" id="{5F06432C-8F71-BA98-2F6A-2FF312561809}"/>
              </a:ext>
            </a:extLst>
          </p:cNvPr>
          <p:cNvSpPr/>
          <p:nvPr/>
        </p:nvSpPr>
        <p:spPr>
          <a:xfrm>
            <a:off x="283809" y="1063953"/>
            <a:ext cx="2741346" cy="3610460"/>
          </a:xfrm>
          <a:prstGeom prst="rect">
            <a:avLst/>
          </a:prstGeom>
          <a:solidFill>
            <a:srgbClr val="F8F8F8"/>
          </a:solidFill>
          <a:ln w="12700">
            <a:solidFill>
              <a:srgbClr val="EBEBEB"/>
            </a:solidFill>
            <a:prstDash val="solid"/>
          </a:ln>
        </p:spPr>
        <p:txBody>
          <a:bodyPr lIns="91440" tIns="45720" rIns="91440" bIns="45720" anchor="t"/>
          <a:lstStyle/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222222"/>
                </a:solidFill>
                <a:latin typeface="Arial"/>
                <a:cs typeface="Arial"/>
              </a:rPr>
              <a:t>High total saves = longevity + workload</a:t>
            </a:r>
            <a:endParaRPr lang="en-US">
              <a:latin typeface="Arial"/>
              <a:ea typeface="Calibri" panose="020F0502020204030204"/>
              <a:cs typeface="Arial"/>
            </a:endParaRPr>
          </a:p>
          <a:p>
            <a:pPr marL="800100" lvl="1" indent="-342900">
              <a:buSzPct val="100000"/>
              <a:buChar char="•"/>
            </a:pPr>
            <a:r>
              <a:rPr lang="en-US" sz="115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Played many seasons,</a:t>
            </a:r>
          </a:p>
          <a:p>
            <a:pPr marL="800100" lvl="1" indent="-342900">
              <a:buSzPct val="100000"/>
              <a:buChar char="•"/>
            </a:pPr>
            <a:r>
              <a:rPr lang="en-US" sz="115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Logged high minutes,</a:t>
            </a:r>
          </a:p>
          <a:p>
            <a:pPr marL="800100" lvl="1" indent="-342900">
              <a:buSzPct val="100000"/>
              <a:buChar char="•"/>
            </a:pPr>
            <a:r>
              <a:rPr lang="en-US" sz="1150">
                <a:solidFill>
                  <a:srgbClr val="222222"/>
                </a:solidFill>
                <a:latin typeface="Arial"/>
                <a:cs typeface="Arial"/>
              </a:rPr>
              <a:t>Played behind a defense that allowed many shots.</a:t>
            </a:r>
          </a:p>
          <a:p>
            <a:pPr lvl="1">
              <a:buSzPct val="100000"/>
            </a:pPr>
            <a:endParaRPr lang="en-US" sz="1150">
              <a:solidFill>
                <a:srgbClr val="222222"/>
              </a:solidFill>
              <a:latin typeface="Arial"/>
              <a:cs typeface="Arial"/>
            </a:endParaRPr>
          </a:p>
          <a:p>
            <a:pPr marL="342900" indent="-342900">
              <a:buSzPct val="100000"/>
              <a:buChar char="•"/>
            </a:pPr>
            <a:r>
              <a:rPr lang="en-US" sz="1150">
                <a:solidFill>
                  <a:srgbClr val="222222"/>
                </a:solidFill>
                <a:latin typeface="Arial"/>
                <a:cs typeface="Arial"/>
              </a:rPr>
              <a:t>Save% annotation adds efficiency context</a:t>
            </a:r>
          </a:p>
          <a:p>
            <a:pPr marL="800100" lvl="1" indent="-342900">
              <a:buSzPct val="100000"/>
              <a:buChar char="•"/>
            </a:pPr>
            <a:r>
              <a:rPr lang="en-US" sz="1150">
                <a:solidFill>
                  <a:srgbClr val="222222"/>
                </a:solidFill>
                <a:latin typeface="Arial"/>
                <a:cs typeface="Arial"/>
              </a:rPr>
              <a:t>High-volume, high-efficiency keepers </a:t>
            </a:r>
            <a:r>
              <a:rPr lang="en-US" sz="1150" b="1">
                <a:solidFill>
                  <a:srgbClr val="222222"/>
                </a:solidFill>
                <a:latin typeface="Arial"/>
                <a:cs typeface="Arial"/>
              </a:rPr>
              <a:t>(elite careers)</a:t>
            </a:r>
          </a:p>
          <a:p>
            <a:pPr marL="800100" lvl="1" indent="-342900">
              <a:buSzPct val="100000"/>
              <a:buChar char="•"/>
            </a:pPr>
            <a:r>
              <a:rPr lang="en-US" sz="1150">
                <a:solidFill>
                  <a:srgbClr val="222222"/>
                </a:solidFill>
                <a:latin typeface="Arial"/>
                <a:cs typeface="Arial"/>
              </a:rPr>
              <a:t>High-volume, average-efficiency keepers </a:t>
            </a:r>
            <a:r>
              <a:rPr lang="en-US" sz="1150" b="1">
                <a:solidFill>
                  <a:srgbClr val="222222"/>
                </a:solidFill>
                <a:latin typeface="Arial"/>
                <a:cs typeface="Arial"/>
              </a:rPr>
              <a:t>(workhorses)</a:t>
            </a:r>
          </a:p>
          <a:p>
            <a:pPr marL="800100" lvl="1" indent="-342900"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Arial"/>
                <a:cs typeface="Arial"/>
              </a:rPr>
              <a:t>Lower-volume but extremely efficient keepers (not shown because they didn’t make top 15 in saves)</a:t>
            </a:r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0DC6A7EB-41D8-9111-FBAB-6D9F0C2BBC19}"/>
              </a:ext>
            </a:extLst>
          </p:cNvPr>
          <p:cNvSpPr/>
          <p:nvPr/>
        </p:nvSpPr>
        <p:spPr>
          <a:xfrm>
            <a:off x="222087" y="1062868"/>
            <a:ext cx="61722" cy="3610460"/>
          </a:xfrm>
          <a:prstGeom prst="rect">
            <a:avLst/>
          </a:prstGeom>
          <a:solidFill>
            <a:srgbClr val="7B0C00"/>
          </a:solidFill>
          <a:ln w="12700">
            <a:solidFill>
              <a:srgbClr val="7B0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7B0C00"/>
          </a:solidFill>
          <a:ln w="12700">
            <a:solidFill>
              <a:srgbClr val="7B0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7B0C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Predictive Modeling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— Predicting Winning Records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365760" y="4718304"/>
            <a:ext cx="8412480" cy="10973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unpacked_booth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773168"/>
            <a:ext cx="1600200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0" y="47731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/>
          </a:p>
        </p:txBody>
      </p:sp>
      <p:sp>
        <p:nvSpPr>
          <p:cNvPr id="8" name="Shape 5"/>
          <p:cNvSpPr/>
          <p:nvPr/>
        </p:nvSpPr>
        <p:spPr>
          <a:xfrm>
            <a:off x="365760" y="1078992"/>
            <a:ext cx="8412480" cy="420624"/>
          </a:xfrm>
          <a:prstGeom prst="rect">
            <a:avLst/>
          </a:prstGeom>
          <a:solidFill>
            <a:srgbClr val="FDF4F4"/>
          </a:solidFill>
          <a:ln w="12700">
            <a:solidFill>
              <a:srgbClr val="E8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1078992"/>
            <a:ext cx="54864" cy="420624"/>
          </a:xfrm>
          <a:prstGeom prst="rect">
            <a:avLst/>
          </a:prstGeom>
          <a:solidFill>
            <a:srgbClr val="7B0C00"/>
          </a:solidFill>
          <a:ln w="12700">
            <a:solidFill>
              <a:srgbClr val="7B0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1078992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7B0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r>
              <a:rPr lang="en-US" sz="125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winning record (Win &gt; Loss seasons) using GK performance metrics</a:t>
            </a:r>
            <a:endParaRPr lang="en-US" sz="1250"/>
          </a:p>
        </p:txBody>
      </p:sp>
      <p:sp>
        <p:nvSpPr>
          <p:cNvPr id="11" name="Shape 8"/>
          <p:cNvSpPr/>
          <p:nvPr/>
        </p:nvSpPr>
        <p:spPr>
          <a:xfrm>
            <a:off x="365760" y="1572768"/>
            <a:ext cx="2103120" cy="960120"/>
          </a:xfrm>
          <a:prstGeom prst="rect">
            <a:avLst/>
          </a:prstGeom>
          <a:solidFill>
            <a:srgbClr val="F8F8F8"/>
          </a:solidFill>
          <a:ln w="12700">
            <a:solidFill>
              <a:srgbClr val="EBE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65760" y="1572768"/>
            <a:ext cx="54864" cy="960120"/>
          </a:xfrm>
          <a:prstGeom prst="rect">
            <a:avLst/>
          </a:prstGeom>
          <a:solidFill>
            <a:srgbClr val="7B0C00"/>
          </a:solidFill>
          <a:ln w="12700">
            <a:solidFill>
              <a:srgbClr val="7B0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75488" y="1645920"/>
            <a:ext cx="192024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7B0C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0.81</a:t>
            </a:r>
            <a:endParaRPr lang="en-US" sz="3200"/>
          </a:p>
        </p:txBody>
      </p:sp>
      <p:sp>
        <p:nvSpPr>
          <p:cNvPr id="14" name="Text 11"/>
          <p:cNvSpPr/>
          <p:nvPr/>
        </p:nvSpPr>
        <p:spPr>
          <a:xfrm>
            <a:off x="475488" y="2168042"/>
            <a:ext cx="192024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Accuracy (81%)</a:t>
            </a:r>
            <a:endParaRPr lang="en-US" sz="1000"/>
          </a:p>
        </p:txBody>
      </p:sp>
      <p:sp>
        <p:nvSpPr>
          <p:cNvPr id="15" name="Shape 12"/>
          <p:cNvSpPr/>
          <p:nvPr/>
        </p:nvSpPr>
        <p:spPr>
          <a:xfrm>
            <a:off x="2651760" y="1572768"/>
            <a:ext cx="6126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834640" y="1682496"/>
            <a:ext cx="1645920" cy="246888"/>
          </a:xfrm>
          <a:prstGeom prst="rect">
            <a:avLst/>
          </a:prstGeom>
          <a:solidFill>
            <a:srgbClr val="7B0C00"/>
          </a:solidFill>
          <a:ln w="12700">
            <a:solidFill>
              <a:srgbClr val="7B0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834640" y="168249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PREDICTORS</a:t>
            </a:r>
            <a:endParaRPr lang="en-US" sz="900"/>
          </a:p>
        </p:txBody>
      </p:sp>
      <p:sp>
        <p:nvSpPr>
          <p:cNvPr id="18" name="Text 15"/>
          <p:cNvSpPr/>
          <p:nvPr/>
        </p:nvSpPr>
        <p:spPr>
          <a:xfrm>
            <a:off x="2834640" y="192024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6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%</a:t>
            </a:r>
            <a:r>
              <a:rPr lang="en-US" sz="11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positive influence on winning   |  </a:t>
            </a:r>
            <a:r>
              <a:rPr lang="en-US" sz="1100" b="1">
                <a:solidFill>
                  <a:srgbClr val="7B0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GAA</a:t>
            </a:r>
            <a:r>
              <a:rPr lang="en-US" sz="11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strong negative (higher GAA hurts)   |  </a:t>
            </a:r>
            <a:r>
              <a:rPr lang="en-US" sz="1100" b="1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Shutout Rate</a:t>
            </a:r>
            <a:r>
              <a:rPr lang="en-US" sz="11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slight negative effect</a:t>
            </a:r>
            <a:endParaRPr lang="en-US" sz="110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BD8FCC0-7B1B-1897-4049-189206C4F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8918" y="2608387"/>
            <a:ext cx="4506163" cy="175787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7B0C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Takeaways &amp; Predictions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DD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findings from the full Colab analysis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365760" y="1353312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B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269748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5488" y="1499616"/>
            <a:ext cx="2478024" cy="246888"/>
          </a:xfrm>
          <a:prstGeom prst="rect">
            <a:avLst/>
          </a:prstGeom>
          <a:solidFill>
            <a:srgbClr val="7B0C00"/>
          </a:solidFill>
          <a:ln w="12700">
            <a:solidFill>
              <a:srgbClr val="7B0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499616"/>
            <a:ext cx="2478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LEAGUE TRENDS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530352" y="1883664"/>
            <a:ext cx="2423160" cy="2057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535353"/>
                </a:solidFill>
                <a:latin typeface="Arial"/>
                <a:ea typeface="Arial" pitchFamily="34" charset="-122"/>
                <a:cs typeface="Arial"/>
              </a:rPr>
              <a:t>Save % remains stable across eras</a:t>
            </a:r>
            <a:endParaRPr lang="en-US" sz="1200">
              <a:latin typeface="Arial"/>
              <a:cs typeface="Arial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GAA has improved over time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535353"/>
                </a:solidFill>
                <a:latin typeface="Arial"/>
                <a:ea typeface="Arial" pitchFamily="34" charset="-122"/>
                <a:cs typeface="Arial"/>
              </a:rPr>
              <a:t>Home advantage is strong and consistent (~56% home win rate)</a:t>
            </a:r>
            <a:endParaRPr lang="en-US" sz="1200">
              <a:latin typeface="Arial"/>
              <a:cs typeface="Arial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0" y="1353312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B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1353312"/>
            <a:ext cx="269748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10128" y="1499616"/>
            <a:ext cx="2478024" cy="246888"/>
          </a:xfrm>
          <a:prstGeom prst="rect">
            <a:avLst/>
          </a:prstGeom>
          <a:solidFill>
            <a:srgbClr val="7B0C00"/>
          </a:solidFill>
          <a:ln w="12700">
            <a:solidFill>
              <a:srgbClr val="7B0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10128" y="1499616"/>
            <a:ext cx="2478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KEEPER INSIGHTS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3364992" y="1883664"/>
            <a:ext cx="24231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Rimando, Hartman, and Meola dominate career metrics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 save % tiers (≥75%) strongly correlate with winning seasons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6035040" y="1353312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B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1353312"/>
            <a:ext cx="269748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44768" y="1499616"/>
            <a:ext cx="2478024" cy="246888"/>
          </a:xfrm>
          <a:prstGeom prst="rect">
            <a:avLst/>
          </a:prstGeom>
          <a:solidFill>
            <a:srgbClr val="7B0C00"/>
          </a:solidFill>
          <a:ln w="12700">
            <a:solidFill>
              <a:srgbClr val="7B0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44768" y="1499616"/>
            <a:ext cx="2478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6199632" y="1883664"/>
            <a:ext cx="24231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achieves 81% accuracy predicting winning seasons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5353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GAA is the strongest negative predictor; Save % is the strongest positive predictor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365760" y="4224528"/>
            <a:ext cx="8412480" cy="475488"/>
          </a:xfrm>
          <a:prstGeom prst="rect">
            <a:avLst/>
          </a:prstGeom>
          <a:solidFill>
            <a:srgbClr val="5A0800"/>
          </a:solidFill>
          <a:ln w="12700">
            <a:solidFill>
              <a:srgbClr val="5A0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422452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  Goalkeeper save % and goals-against average are reliable, actionable metrics for predicting MLS team success – Get a Great Goalie!!</a:t>
            </a:r>
            <a:endParaRPr lang="en-US" sz="1150"/>
          </a:p>
        </p:txBody>
      </p:sp>
      <p:sp>
        <p:nvSpPr>
          <p:cNvPr id="21" name="Shape 19"/>
          <p:cNvSpPr/>
          <p:nvPr/>
        </p:nvSpPr>
        <p:spPr>
          <a:xfrm>
            <a:off x="365760" y="4718304"/>
            <a:ext cx="8412480" cy="10973"/>
          </a:xfrm>
          <a:prstGeom prst="rect">
            <a:avLst/>
          </a:prstGeom>
          <a:solidFill>
            <a:srgbClr val="9B3030"/>
          </a:solidFill>
          <a:ln w="12700">
            <a:solidFill>
              <a:srgbClr val="9B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0" descr="unpacked_booth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791456"/>
            <a:ext cx="1600200" cy="256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9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MLS Goalkeeper &amp; Match Analysis</dc:title>
  <dc:subject>PptxGenJS Presentation</dc:subject>
  <dc:creator>Chicago Booth</dc:creator>
  <cp:revision>6</cp:revision>
  <dcterms:created xsi:type="dcterms:W3CDTF">2026-05-25T16:56:15Z</dcterms:created>
  <dcterms:modified xsi:type="dcterms:W3CDTF">2026-05-26T01:14:33Z</dcterms:modified>
</cp:coreProperties>
</file>